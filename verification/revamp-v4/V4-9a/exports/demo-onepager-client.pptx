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>
        <c:manualLayout>
          <c:layoutTarget val="inner"/>
          <c:xMode val="edge"/>
          <c:yMode val="edge"/>
          <c:x val="0.08"/>
          <c:y val="0.04"/>
          <c:w val="0.9"/>
          <c:h val="0.8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透明底段（圖形用，非金額）</c:v>
                </c:pt>
              </c:strCache>
            </c:strRef>
          </c:tx>
          <c:spPr>
            <a:noFill/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</c:v>
                </c:pt>
                <c:pt idx="1">
                  <c:v>1868626.68</c:v>
                </c:pt>
                <c:pt idx="2">
                  <c:v>3842231.58</c:v>
                </c:pt>
                <c:pt idx="3">
                  <c:v>3577708.86</c:v>
                </c:pt>
                <c:pt idx="4">
                  <c:v>2002628.31</c:v>
                </c:pt>
                <c:pt idx="5">
                  <c:v>1749210.78</c:v>
                </c:pt>
                <c:pt idx="6">
                  <c:v>1715029.15</c:v>
                </c:pt>
                <c:pt idx="7">
                  <c:v>1639238.15</c:v>
                </c:pt>
                <c:pt idx="8">
                  <c:v>1630692.73</c:v>
                </c:pt>
                <c:pt idx="9">
                  <c:v>1269792.73</c:v>
                </c:pt>
                <c:pt idx="10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起訖與小計（金額）</c:v>
                </c:pt>
              </c:strCache>
            </c:strRef>
          </c:tx>
          <c:spPr>
            <a:solidFill>
              <a:srgbClr val="4A5558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1868626.68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1269792.73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有利差額（絕對值，圖形用）</c:v>
                </c:pt>
              </c:strCache>
            </c:strRef>
          </c:tx>
          <c:spPr>
            <a:solidFill>
              <a:srgbClr val="7F898B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</c:v>
                </c:pt>
                <c:pt idx="1">
                  <c:v>3161970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不利差額（絕對值，圖形用）</c:v>
                </c:pt>
              </c:strCache>
            </c:strRef>
          </c:tx>
          <c:spPr>
            <a:solidFill>
              <a:srgbClr val="B03A2E"/>
            </a:solidFill>
            <a:effectLst/>
          </c:spPr>
          <c:invertIfNegative val="0"/>
          <c:dLbls>
            <c:numFmt formatCode="#,##0.00;&quot;−&quot;#,##0.00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426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上期</c:v>
                  </c:pt>
                  <c:pt idx="1">
                    <c:v>原價收入</c:v>
                  </c:pt>
                  <c:pt idx="2">
                    <c:v>折扣</c:v>
                  </c:pt>
                  <c:pt idx="3">
                    <c:v>退款</c:v>
                  </c:pt>
                  <c:pt idx="4">
                    <c:v>商品成本</c:v>
                  </c:pt>
                  <c:pt idx="5">
                    <c:v>平台抽成</c:v>
                  </c:pt>
                  <c:pt idx="6">
                    <c:v>金流費</c:v>
                  </c:pt>
                  <c:pt idx="7">
                    <c:v>物流費</c:v>
                  </c:pt>
                  <c:pt idx="8">
                    <c:v>其他變動費</c:v>
                  </c:pt>
                  <c:pt idx="9">
                    <c:v>廣告費</c:v>
                  </c:pt>
                  <c:pt idx="10">
                    <c:v>本期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</c:v>
                </c:pt>
                <c:pt idx="1">
                  <c:v>0</c:v>
                </c:pt>
                <c:pt idx="2">
                  <c:v>1188365.1</c:v>
                </c:pt>
                <c:pt idx="3">
                  <c:v>264522.72</c:v>
                </c:pt>
                <c:pt idx="4">
                  <c:v>1575080.55</c:v>
                </c:pt>
                <c:pt idx="5">
                  <c:v>253417.53</c:v>
                </c:pt>
                <c:pt idx="6">
                  <c:v>34181.63</c:v>
                </c:pt>
                <c:pt idx="7">
                  <c:v>75791</c:v>
                </c:pt>
                <c:pt idx="8">
                  <c:v>8545.42</c:v>
                </c:pt>
                <c:pt idx="9">
                  <c:v>360900</c:v>
                </c:pt>
                <c:pt idx="10">
                  <c:v>0</c:v>
                </c:pt>
              </c:numCache>
            </c:numRef>
          </c:val>
        </c:ser>
        <c:dLbls>
          <c:numFmt formatCode="#,##0.00;&quot;−&quot;#,##0.00;" sourceLinked="0"/>
          <c:txPr>
            <a:bodyPr/>
            <a:lstStyle/>
            <a:p>
              <a:pPr>
                <a:defRPr b="0" i="0" strike="noStrike" sz="1000" u="none">
                  <a:solidFill>
                    <a:srgbClr val="1B2426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Microsoft Jheng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0000"/>
          <c:min val="0"/>
        </c:scaling>
        <c:delete val="0"/>
        <c:axPos val="l"/>
        <c:majorGridlines>
          <c:spPr>
            <a:ln w="6350" cap="flat">
              <a:solidFill>
                <a:srgbClr val="E4E7E7"/>
              </a:solidFill>
              <a:prstDash val="solid"/>
              <a:round/>
            </a:ln>
          </c:spPr>
        </c:majorGridlines>
        <c:numFmt formatCode="#,##0;&quot;−&quot;#,##0" sourceLinked="0"/>
        <c:majorTickMark val="out"/>
        <c:minorTickMark val="none"/>
        <c:tickLblPos val="nextTo"/>
        <c:spPr>
          <a:ln w="12700" cap="flat">
            <a:solidFill>
              <a:srgbClr val="A9B1B1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555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0000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扣廣告後貢獻兩期比較（管理報表）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營運示範 · 12 週示範資料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客戶：營運示範 · 12 週示範資料 · 製表：EC ProfitLens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2026-07-13 至 2026-08-23（42 天）；上期 2026-06-01 至 2026-07-12（42 天） · 單位：新台幣元，未稅</a:t>
            </a:r>
            <a:endParaRPr lang="en-US" sz="10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指標版本 contribution-v1 · 產出時間 2026-10-13 16:41（台北時間）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1521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關鍵數字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淨營收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+170.9</a:t>
            </a:r>
            <a:pPr indent="0" marL="0">
              <a:buNone/>
            </a:pPr>
            <a:r>
              <a:rPr lang="en-US" sz="20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614.2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785.1 萬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423160" y="1389888"/>
            <a:ext cx="196596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</a:t>
            </a:r>
            <a:endParaRPr lang="en-US" sz="1000" dirty="0"/>
          </a:p>
          <a:p>
            <a:pPr indent="0" marL="0">
              <a:buNone/>
            </a:pPr>
            <a:r>
              <a:rPr lang="en-US" sz="36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−59.9</a:t>
            </a:r>
            <a:pPr indent="0" marL="0">
              <a:buNone/>
            </a:pPr>
            <a:r>
              <a:rPr lang="en-US" sz="2000" b="1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上期 186.9 萬</a:t>
            </a:r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· </a:t>
            </a:r>
            <a:pPr indent="0" marL="0">
              <a:buNone/>
            </a:pPr>
            <a:r>
              <a:rPr lang="en-US" sz="1000" dirty="0">
                <a:solidFill>
                  <a:srgbClr val="1F5A4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 127.0 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3957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本期三件事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33472"/>
            <a:ext cx="40233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折扣多花 118.8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−118.8 萬 · 下一步：先列出本期的促銷檔期，核對折扣有沒有換到足夠的銷量。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淨營收多 170.9 萬，卻少賺 59.9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−59.9 萬 · 下一步：先看貢獻變化拆解中扣最多的兩項，再到通路健檢確認是哪個通路。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廣告多花 36.1 萬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影響金額 −36.1 萬 · 下一步：比對各媒體的 ROAS，先縮減表現最差的活動，再設定每週檢查點。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152144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各通路表現 · 扣廣告後貢獻（元）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0" y="1408176"/>
          <a:ext cx="4206240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1051560"/>
                <a:gridCol w="1051560"/>
                <a:gridCol w="1051560"/>
              </a:tblGrid>
              <a:tr h="2194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通路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上期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本期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差額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3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官網 · DTC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1,147,526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1,330,963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+183,437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平台 · MARKETPLACE</a:t>
                      </a:r>
                      <a:endParaRPr lang="en-US" sz="1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B24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721,101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1F5A4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−61,170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B03A2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−782,271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54864" marR="54864" marT="18288" marB="18288" anchor="ctr">
                    <a:lnL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7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4572000" y="268833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0" y="292608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目前檢視，不含會議決議；決議請到「會議紀錄」頁輸出。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31912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置頂待辦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0" y="344728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還沒有置頂的待辦。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65760" y="4754880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扣廣告後貢獻不含固定費與稅。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5400"/>
            <a:ext cx="9144000" cy="0"/>
          </a:xfrm>
          <a:prstGeom prst="line">
            <a:avLst/>
          </a:prstGeom>
          <a:noFill/>
          <a:ln w="50800">
            <a:solidFill>
              <a:srgbClr val="1F5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少賺 59.9 萬，扣最多的一項是商品成本（−157.5 萬）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12064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A555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貢獻變化拆解 · 本期 2026-07-13 至 2026-08-23（42 天）；上期 2026-06-01 至 2026-07-12（42 天） · 單位：新台幣元，未稅</a:t>
            </a:r>
            <a:endParaRPr lang="en-US" sz="10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822960"/>
          <a:ext cx="8412480" cy="3886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1038758" y="302498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186.9 萬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727052" y="130466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+316.2 萬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415346" y="130466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−118.8 萬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103640" y="1951213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−26.5 萬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91934" y="209513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−157.5 萬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4480227" y="2952082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−25.3 萬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168521" y="3089958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−3.4 萬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56815" y="3108556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−7.6 萬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45109" y="3149791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−8,545 元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233403" y="3154440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03A2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−36.1 萬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21697" y="3350794"/>
            <a:ext cx="68829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24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127.0 萬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EC ProfitLens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扣廣告後貢獻兩期比較（管理報表）</dc:title>
  <dc:subject>資料到 2026-08-24 · 上期 2026-06-01 至 2026-07-12（42 天） · 本期 2026-07-13 至 2026-08-23（42 天） · 通路：官網 · DTC、平台 · MARKETPLACE</dc:subject>
  <dc:creator>EC ProfitLens</dc:creator>
  <cp:lastModifiedBy>EC ProfitLens</cp:lastModifiedBy>
  <cp:revision>1</cp:revision>
  <dcterms:created xsi:type="dcterms:W3CDTF">2026-10-13T08:41:08Z</dcterms:created>
  <dcterms:modified xsi:type="dcterms:W3CDTF">2026-10-13T08:41:08Z</dcterms:modified>
</cp:coreProperties>
</file>