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offset (for drawing, not an amount)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1868626.68</c:v>
                </c:pt>
                <c:pt idx="2">
                  <c:v>3842231.58</c:v>
                </c:pt>
                <c:pt idx="3">
                  <c:v>3577708.86</c:v>
                </c:pt>
                <c:pt idx="4">
                  <c:v>2002628.31</c:v>
                </c:pt>
                <c:pt idx="5">
                  <c:v>1749210.78</c:v>
                </c:pt>
                <c:pt idx="6">
                  <c:v>1715029.15</c:v>
                </c:pt>
                <c:pt idx="7">
                  <c:v>1639238.15</c:v>
                </c:pt>
                <c:pt idx="8">
                  <c:v>1630692.73</c:v>
                </c:pt>
                <c:pt idx="9">
                  <c:v>1269792.73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Start, subtotal and end (amount)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1868626.68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1269792.73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Favorable change (abs, for drawing)</c:v>
                </c:pt>
              </c:strCache>
            </c:strRef>
          </c:tx>
          <c:spPr>
            <a:solidFill>
              <a:srgbClr val="A9B1B1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3161970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Unfavorable change (abs, for drawing)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1188365.1</c:v>
                </c:pt>
                <c:pt idx="3">
                  <c:v>264522.72</c:v>
                </c:pt>
                <c:pt idx="4">
                  <c:v>1575080.55</c:v>
                </c:pt>
                <c:pt idx="5">
                  <c:v>253417.53</c:v>
                </c:pt>
                <c:pt idx="6">
                  <c:v>34181.63</c:v>
                </c:pt>
                <c:pt idx="7">
                  <c:v>75791</c:v>
                </c:pt>
                <c:pt idx="8">
                  <c:v>8545.42</c:v>
                </c:pt>
                <c:pt idx="9">
                  <c:v>360900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|rule|line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B|header|title"/>
          <p:cNvSpPr/>
          <p:nvPr/>
        </p:nvSpPr>
        <p:spPr>
          <a:xfrm>
            <a:off x="365760" y="7315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Weekly review（2026-10-05）</a:t>
            </a:r>
            <a:endParaRPr lang="en-US" sz="1800" dirty="0"/>
          </a:p>
        </p:txBody>
      </p:sp>
      <p:sp>
        <p:nvSpPr>
          <p:cNvPr id="4" name="B|header|lines"/>
          <p:cNvSpPr/>
          <p:nvPr/>
        </p:nvSpPr>
        <p:spPr>
          <a:xfrm>
            <a:off x="365760" y="402336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synthetic-demo-12w-v1 · 扣廣告後貢獻兩期比較（管理報表）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2026-07-13 至 2026-08-23（42 天）；上期 2026-06-01 至 2026-07-12（42 天） · 單位：新台幣元，未稅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2026-10-05 14:32（台北時間）</a:t>
            </a:r>
            <a:endParaRPr lang="en-US" sz="1000" dirty="0"/>
          </a:p>
        </p:txBody>
      </p:sp>
      <p:sp>
        <p:nvSpPr>
          <p:cNvPr id="5" name="B|oneLiner|text"/>
          <p:cNvSpPr/>
          <p:nvPr/>
        </p:nvSpPr>
        <p:spPr>
          <a:xfrm>
            <a:off x="365760" y="914400"/>
            <a:ext cx="8412480" cy="22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淨營收多 170.9 萬，扣廣告後貢獻卻少賺 59.9 萬；最大一項是折扣多花 118.8 萬。</a:t>
            </a:r>
            <a:endParaRPr lang="en-US" sz="1100" dirty="0"/>
          </a:p>
        </p:txBody>
      </p:sp>
      <p:sp>
        <p:nvSpPr>
          <p:cNvPr id="6" name="B|kpi|heading"/>
          <p:cNvSpPr/>
          <p:nvPr/>
        </p:nvSpPr>
        <p:spPr>
          <a:xfrm>
            <a:off x="365760" y="1173353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7" name="B|kpi|card1"/>
          <p:cNvSpPr/>
          <p:nvPr/>
        </p:nvSpPr>
        <p:spPr>
          <a:xfrm>
            <a:off x="365760" y="1392809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+170.9</a:t>
            </a:r>
            <a:pPr indent="0" marL="0">
              <a:buNone/>
            </a:pPr>
            <a:r>
              <a:rPr lang="en-US" sz="1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614.2 萬 · 本期 785.1 萬</a:t>
            </a:r>
            <a:endParaRPr lang="en-US" sz="1000" dirty="0"/>
          </a:p>
        </p:txBody>
      </p:sp>
      <p:sp>
        <p:nvSpPr>
          <p:cNvPr id="8" name="B|kpi|card2"/>
          <p:cNvSpPr/>
          <p:nvPr/>
        </p:nvSpPr>
        <p:spPr>
          <a:xfrm>
            <a:off x="2423160" y="1392809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−59.9</a:t>
            </a:r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186.9 萬 · 本期 127.0 萬</a:t>
            </a:r>
            <a:endParaRPr lang="en-US" sz="1000" dirty="0"/>
          </a:p>
        </p:txBody>
      </p:sp>
      <p:sp>
        <p:nvSpPr>
          <p:cNvPr id="9" name="B|topThree|heading"/>
          <p:cNvSpPr/>
          <p:nvPr/>
        </p:nvSpPr>
        <p:spPr>
          <a:xfrm>
            <a:off x="365760" y="2179193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0" name="B|topThree|item1"/>
          <p:cNvSpPr/>
          <p:nvPr/>
        </p:nvSpPr>
        <p:spPr>
          <a:xfrm>
            <a:off x="365760" y="2398649"/>
            <a:ext cx="402336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折扣多花 118.8 萬 · 影響金額 −118.8 萬 · 下一步：先…</a:t>
            </a:r>
            <a:endParaRPr lang="en-US" sz="1000" dirty="0"/>
          </a:p>
        </p:txBody>
      </p:sp>
      <p:sp>
        <p:nvSpPr>
          <p:cNvPr id="11" name="B|topThree|item2"/>
          <p:cNvSpPr/>
          <p:nvPr/>
        </p:nvSpPr>
        <p:spPr>
          <a:xfrm>
            <a:off x="365760" y="2585847"/>
            <a:ext cx="402336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淨營收多 170.9 萬，卻少賺 59.9 萬 · 影響金額 −59.9 …</a:t>
            </a:r>
            <a:endParaRPr lang="en-US" sz="1000" dirty="0"/>
          </a:p>
        </p:txBody>
      </p:sp>
      <p:sp>
        <p:nvSpPr>
          <p:cNvPr id="12" name="B|topThree|item3"/>
          <p:cNvSpPr/>
          <p:nvPr/>
        </p:nvSpPr>
        <p:spPr>
          <a:xfrm>
            <a:off x="365760" y="2773045"/>
            <a:ext cx="402336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36.1 萬 · 影響金額 −36.1 萬 · 下一步：比對…</a:t>
            </a:r>
            <a:endParaRPr lang="en-US" sz="1000" dirty="0"/>
          </a:p>
        </p:txBody>
      </p:sp>
      <p:sp>
        <p:nvSpPr>
          <p:cNvPr id="13" name="B|channels|heading"/>
          <p:cNvSpPr/>
          <p:nvPr/>
        </p:nvSpPr>
        <p:spPr>
          <a:xfrm>
            <a:off x="4572000" y="1173353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各通路表現 · 扣廣告後貢獻（元）</a:t>
            </a:r>
            <a:endParaRPr lang="en-US" sz="1100" dirty="0"/>
          </a:p>
        </p:txBody>
      </p:sp>
      <p:graphicFrame>
        <p:nvGraphicFramePr>
          <p:cNvPr id="2" name="B|channels|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92809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官網 · 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1,147,526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1,330,963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+183,437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 · 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721,101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−61,170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−782,271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B|decision|heading"/>
          <p:cNvSpPr/>
          <p:nvPr/>
        </p:nvSpPr>
        <p:spPr>
          <a:xfrm>
            <a:off x="4572000" y="2672969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6" name="B|decision|text"/>
          <p:cNvSpPr/>
          <p:nvPr/>
        </p:nvSpPr>
        <p:spPr>
          <a:xfrm>
            <a:off x="4572000" y="2892425"/>
            <a:ext cx="420624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決議：採用 · 備註：Keep the channel plan</a:t>
            </a:r>
            <a:endParaRPr lang="en-US" sz="1000" dirty="0"/>
          </a:p>
        </p:txBody>
      </p:sp>
      <p:sp>
        <p:nvSpPr>
          <p:cNvPr id="17" name="B|pinned|heading"/>
          <p:cNvSpPr/>
          <p:nvPr/>
        </p:nvSpPr>
        <p:spPr>
          <a:xfrm>
            <a:off x="4572000" y="3116199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8" name="B|pinned|item1"/>
          <p:cNvSpPr/>
          <p:nvPr/>
        </p:nvSpPr>
        <p:spPr>
          <a:xfrm>
            <a:off x="4572000" y="3335655"/>
            <a:ext cx="420624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折扣率上升 · 負責人 Ops · 期限 2026-10-12 · 未開始</a:t>
            </a:r>
            <a:endParaRPr lang="en-US" sz="1000" dirty="0"/>
          </a:p>
        </p:txBody>
      </p:sp>
      <p:sp>
        <p:nvSpPr>
          <p:cNvPr id="19" name="B|pinned|item2"/>
          <p:cNvSpPr/>
          <p:nvPr/>
        </p:nvSpPr>
        <p:spPr>
          <a:xfrm>
            <a:off x="4572000" y="3522853"/>
            <a:ext cx="420624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折扣率上升 · 負責人 Ops · 期限 2026-10-13 · 未開始</a:t>
            </a:r>
            <a:endParaRPr lang="en-US" sz="1000" dirty="0"/>
          </a:p>
        </p:txBody>
      </p:sp>
      <p:sp>
        <p:nvSpPr>
          <p:cNvPr id="20" name="B|pinned|item3"/>
          <p:cNvSpPr/>
          <p:nvPr/>
        </p:nvSpPr>
        <p:spPr>
          <a:xfrm>
            <a:off x="4572000" y="3710051"/>
            <a:ext cx="4206240" cy="18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淨營收增加，行銷後貢獻下降 · 負責人 Ops · 期限 2026-10-1…</a:t>
            </a:r>
            <a:endParaRPr lang="en-US" sz="1000" dirty="0"/>
          </a:p>
        </p:txBody>
      </p:sp>
      <p:sp>
        <p:nvSpPr>
          <p:cNvPr id="21" name="B|waterfall|heading"/>
          <p:cNvSpPr/>
          <p:nvPr/>
        </p:nvSpPr>
        <p:spPr>
          <a:xfrm>
            <a:off x="365760" y="3933825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59.9 萬，扣最多的一項是商品成本（−157.5 萬）</a:t>
            </a:r>
            <a:endParaRPr lang="en-US" sz="1100" dirty="0"/>
          </a:p>
        </p:txBody>
      </p:sp>
      <p:graphicFrame>
        <p:nvGraphicFramePr>
          <p:cNvPr id="22" name="B|waterfall|chart" descr=""/>
          <p:cNvGraphicFramePr/>
          <p:nvPr/>
        </p:nvGraphicFramePr>
        <p:xfrm>
          <a:off x="365760" y="4153281"/>
          <a:ext cx="8412480" cy="58331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B|footer|text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扣廣告後貢獻不含固定費與稅。 · 資料版本 121951cb443e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2026-10-08T10:42:53Z</dcterms:created>
  <dcterms:modified xsi:type="dcterms:W3CDTF">2026-10-08T10:42:53Z</dcterms:modified>
</cp:coreProperties>
</file>